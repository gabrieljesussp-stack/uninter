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Explicar que o objetivo é aprender a reconhecer golpes e agir com calma. Ninguém precisa ter vergonha de perguntar.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mensagem mais importante da apresentação. Repetir em voz alta com o grupo: PARE, PENSE, CONFIRME.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que é o código de 6 números que chega por SMS. Ele é como a chave da casa: não se entrega a ninguém.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 = Mecanismo Especial de Devolução do Pix. Deve ser pedido ao banco o quanto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para perguntas. Lembrar que a cartilha foi enviada por e-mail e WhatsApp e que há uma cópia na secretaria da paróquia.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2926080" cy="2926080"/>
          </a:xfrm>
          <a:prstGeom prst="ellipse">
            <a:avLst/>
          </a:prstGeom>
          <a:solidFill>
            <a:srgbClr val="24418A"/>
          </a:solidFill>
          <a:ln w="12700">
            <a:solidFill>
              <a:srgbClr val="24418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19456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4C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DE BOLSO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920240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Idoso Seguro no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Mundo Digital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114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6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simples para você se proteger de golpes no celular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6035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RU5445868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3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 de ouro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1887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alguém pedir dinheiro, senha, código ou acesso ao seu celular, não tenha pressa.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0" y="2286000"/>
            <a:ext cx="1554480" cy="155448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420" y="2674620"/>
            <a:ext cx="777240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3977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4663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responda na hora.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394960" y="2286000"/>
            <a:ext cx="1554480" cy="15544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0" y="2674620"/>
            <a:ext cx="777240" cy="777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0" y="3977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PENSE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4663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faz sentido?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tanta pressa?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8961120" y="2286000"/>
            <a:ext cx="1554480" cy="1554480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740" y="2674620"/>
            <a:ext cx="777240" cy="7772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38160" y="3977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</a:t>
            </a:r>
            <a:endParaRPr lang="en-US" sz="360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4663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Ligue para a pessoa ou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banco oficial.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Idoso Seguro no Mundo Digital  •  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7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3657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Golpes pelo WhatsApp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9601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golpista usa a foto e o nome de uma pessoa conhecida.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E7EEF7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9659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Oi, sou eu! Troquei de número.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2918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Preciso de um Pix urgente. Pode me ajudar?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6177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conte para ninguém!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5486400" cy="1417320"/>
          </a:xfrm>
          <a:prstGeom prst="roundRect">
            <a:avLst>
              <a:gd name="adj" fmla="val 967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169164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Atenção: </a:t>
            </a:r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e nome no WhatsApp NÃO provam quem está falando.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fazer?</a:t>
            </a:r>
            <a:endParaRPr lang="en-US" sz="2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3986784"/>
            <a:ext cx="329184" cy="32918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629400" y="39319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envie dinheiro.</a:t>
            </a:r>
            <a:endParaRPr lang="en-US" sz="2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553712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629400" y="44988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clique em links.</a:t>
            </a:r>
            <a:endParaRPr lang="en-US" sz="2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512064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629400" y="506577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Ligue para a pessoa no número antigo.</a:t>
            </a:r>
            <a:endParaRPr lang="en-US" sz="2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568756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629400" y="563270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 antes de pagar.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Idoso Seguro no Mundo Digital  • 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5FB4"/>
          </a:solidFill>
          <a:ln w="12700">
            <a:solidFill>
              <a:srgbClr val="1E5FB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7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3657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Mensagens com links (SMS)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9601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criminoso tenta fazer você clicar em um link falso.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E7EEF7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37744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237744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conta será bloqueada.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aqui para regularizar: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u="sng" dirty="0">
                <a:solidFill>
                  <a:srgbClr val="1E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http://link-falso.com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486400" cy="1920240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828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CLIQUE!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3774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abra links de desconhecidos ou mensagens inesperadas.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resolver?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4443984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629400" y="4389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 aplicativo oficial.</a:t>
            </a:r>
            <a:endParaRPr lang="en-US" sz="2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010912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629400" y="49560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você mesmo o site.</a:t>
            </a:r>
            <a:endParaRPr lang="en-US" sz="2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557784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29400" y="552297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use o link recebido.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Idoso Seguro no Mundo Digital  •  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7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3657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Ligações telefônicas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9601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golpista pode se passar por banco, empresa ou órgão público.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03520" cy="4297680"/>
          </a:xfrm>
          <a:prstGeom prst="roundRect">
            <a:avLst>
              <a:gd name="adj" fmla="val 3191"/>
            </a:avLst>
          </a:prstGeom>
          <a:solidFill>
            <a:srgbClr val="EFEAF8"/>
          </a:solidFill>
          <a:ln w="12700">
            <a:solidFill>
              <a:srgbClr val="EFEA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2103120"/>
            <a:ext cx="1554480" cy="1554480"/>
          </a:xfrm>
          <a:prstGeom prst="ellipse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1780" y="2491740"/>
            <a:ext cx="777240" cy="7772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84048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5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“Sou do banco.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5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Precisamos confirmar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5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seus dados...”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7373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informe por telefone:</a:t>
            </a:r>
            <a:endParaRPr lang="en-US" sz="2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47802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12280" y="24231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Senhas</a:t>
            </a:r>
            <a:endParaRPr lang="en-US" sz="2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11810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12280" y="3063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recebido por SMS</a:t>
            </a:r>
            <a:endParaRPr lang="en-US" sz="2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758184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12280" y="3703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do cartão</a:t>
            </a:r>
            <a:endParaRPr lang="en-US" sz="2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398264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812280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segurança do cartão</a:t>
            </a:r>
            <a:endParaRPr lang="en-US" sz="2200" dirty="0"/>
          </a:p>
        </p:txBody>
      </p:sp>
      <p:sp>
        <p:nvSpPr>
          <p:cNvPr id="19" name="Shape 12"/>
          <p:cNvSpPr/>
          <p:nvPr/>
        </p:nvSpPr>
        <p:spPr>
          <a:xfrm>
            <a:off x="6309360" y="5120640"/>
            <a:ext cx="5303520" cy="914400"/>
          </a:xfrm>
          <a:prstGeom prst="roundRect">
            <a:avLst>
              <a:gd name="adj" fmla="val 15000"/>
            </a:avLst>
          </a:prstGeom>
          <a:solidFill>
            <a:srgbClr val="E9F6EC"/>
          </a:solidFill>
          <a:ln w="12700">
            <a:solidFill>
              <a:srgbClr val="E9F6EC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6492240" y="5120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Desligue e ligue você mesmo para o número do verso do cartão.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Idoso Seguro no Mundo Digital  •  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E8731A"/>
          </a:solidFill>
          <a:ln w="12700">
            <a:solidFill>
              <a:srgbClr val="E873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7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3657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truques do golpista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9601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tenta enganar, assustar ou apressar você.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06040" cy="3108960"/>
          </a:xfrm>
          <a:prstGeom prst="roundRect">
            <a:avLst>
              <a:gd name="adj" fmla="val 5263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965960"/>
            <a:ext cx="1097280" cy="1097280"/>
          </a:xfrm>
          <a:prstGeom prst="ellipse">
            <a:avLst/>
          </a:prstGeom>
          <a:solidFill>
            <a:srgbClr val="E8731A"/>
          </a:solidFill>
          <a:ln w="12700">
            <a:solidFill>
              <a:srgbClr val="E8731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22402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200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MEDO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“Sua conta será bloqueada!”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83280" y="1737360"/>
            <a:ext cx="2606040" cy="3108960"/>
          </a:xfrm>
          <a:prstGeom prst="roundRect">
            <a:avLst>
              <a:gd name="adj" fmla="val 5263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33088" y="1965960"/>
            <a:ext cx="1097280" cy="1097280"/>
          </a:xfrm>
          <a:prstGeom prst="ellipse">
            <a:avLst/>
          </a:prstGeom>
          <a:solidFill>
            <a:srgbClr val="E8731A"/>
          </a:solidFill>
          <a:ln w="12700">
            <a:solidFill>
              <a:srgbClr val="E8731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24028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83280" y="3200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PRESSA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“Faça agora!”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217920" y="1737360"/>
            <a:ext cx="2606040" cy="3108960"/>
          </a:xfrm>
          <a:prstGeom prst="roundRect">
            <a:avLst>
              <a:gd name="adj" fmla="val 5263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67728" y="1965960"/>
            <a:ext cx="1097280" cy="1097280"/>
          </a:xfrm>
          <a:prstGeom prst="ellipse">
            <a:avLst/>
          </a:prstGeom>
          <a:solidFill>
            <a:srgbClr val="E8731A"/>
          </a:solidFill>
          <a:ln w="12700">
            <a:solidFill>
              <a:srgbClr val="E8731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224028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3200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EMOÇÃO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“Seu filho precisa de ajuda!”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9052560" y="1737360"/>
            <a:ext cx="2606040" cy="3108960"/>
          </a:xfrm>
          <a:prstGeom prst="roundRect">
            <a:avLst>
              <a:gd name="adj" fmla="val 5263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802368" y="1965960"/>
            <a:ext cx="1097280" cy="1097280"/>
          </a:xfrm>
          <a:prstGeom prst="ellipse">
            <a:avLst/>
          </a:prstGeom>
          <a:solidFill>
            <a:srgbClr val="E8731A"/>
          </a:solidFill>
          <a:ln w="12700">
            <a:solidFill>
              <a:srgbClr val="E8731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6688" y="224028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052560" y="3200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GANÂNCIA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923544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“Você ganhou um prêmio!”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13636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48640" y="51663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3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parecer urgente, é golpe.  PARE • PENSE • CONFIRME</a:t>
            </a:r>
            <a:endParaRPr lang="en-US" sz="28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Idoso Seguro no Mundo Digital  •  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7306B"/>
          </a:solidFill>
          <a:ln w="12700">
            <a:solidFill>
              <a:srgbClr val="1730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628650"/>
            <a:ext cx="434340" cy="4343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45920" y="3657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Proteja seu celular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1645920" y="9601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Configurações simples fazem toda a diferença.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965960"/>
            <a:ext cx="822960" cy="822960"/>
          </a:xfrm>
          <a:prstGeom prst="ellipse">
            <a:avLst/>
          </a:prstGeom>
          <a:solidFill>
            <a:srgbClr val="17306B"/>
          </a:solidFill>
          <a:ln w="12700">
            <a:solidFill>
              <a:srgbClr val="17306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1717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 ou PIN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6 dígitos ou mais. Evite 123456 e datas.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297680" y="169164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26280" y="1965960"/>
            <a:ext cx="822960" cy="822960"/>
          </a:xfrm>
          <a:prstGeom prst="ellipse">
            <a:avLst/>
          </a:prstGeom>
          <a:solidFill>
            <a:srgbClr val="17306B"/>
          </a:solidFill>
          <a:ln w="12700">
            <a:solidFill>
              <a:srgbClr val="17306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21717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Biometria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526280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ou rosto impedem que outra pessoa abra seu celular.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8046720" y="169164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75320" y="1965960"/>
            <a:ext cx="822960" cy="822960"/>
          </a:xfrm>
          <a:prstGeom prst="ellipse">
            <a:avLst/>
          </a:prstGeom>
          <a:solidFill>
            <a:srgbClr val="17306B"/>
          </a:solidFill>
          <a:ln w="12700">
            <a:solidFill>
              <a:srgbClr val="1730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060" y="21717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3544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 em duas etapas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8275320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Ative no WhatsApp, e-mail e aplicativos do banco.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548640" y="397764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77240" y="4251960"/>
            <a:ext cx="822960" cy="822960"/>
          </a:xfrm>
          <a:prstGeom prst="ellipse">
            <a:avLst/>
          </a:prstGeom>
          <a:solidFill>
            <a:srgbClr val="17306B"/>
          </a:solidFill>
          <a:ln w="12700">
            <a:solidFill>
              <a:srgbClr val="17306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457700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37360" y="4206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Senhas fortes e diferentes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777240" y="5166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senha para cada conta. Nada de nomes ou datas.</a:t>
            </a:r>
            <a:endParaRPr lang="en-US" sz="1800" dirty="0"/>
          </a:p>
        </p:txBody>
      </p:sp>
      <p:sp>
        <p:nvSpPr>
          <p:cNvPr id="26" name="Shape 19"/>
          <p:cNvSpPr/>
          <p:nvPr/>
        </p:nvSpPr>
        <p:spPr>
          <a:xfrm>
            <a:off x="4297680" y="397764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526280" y="4251960"/>
            <a:ext cx="822960" cy="822960"/>
          </a:xfrm>
          <a:prstGeom prst="ellipse">
            <a:avLst/>
          </a:prstGeom>
          <a:solidFill>
            <a:srgbClr val="17306B"/>
          </a:solidFill>
          <a:ln w="12700">
            <a:solidFill>
              <a:srgbClr val="17306B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020" y="4457700"/>
            <a:ext cx="411480" cy="41148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486400" y="4206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Atualize o celular</a:t>
            </a:r>
            <a:endParaRPr lang="en-US" sz="2000" dirty="0"/>
          </a:p>
        </p:txBody>
      </p:sp>
      <p:sp>
        <p:nvSpPr>
          <p:cNvPr id="30" name="Text 22"/>
          <p:cNvSpPr txBox="1"/>
          <p:nvPr/>
        </p:nvSpPr>
        <p:spPr>
          <a:xfrm>
            <a:off x="4526280" y="5166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Baixe aplicativos só da Play Store ou App Store.</a:t>
            </a:r>
            <a:endParaRPr lang="en-US" sz="1800" dirty="0"/>
          </a:p>
        </p:txBody>
      </p:sp>
      <p:sp>
        <p:nvSpPr>
          <p:cNvPr id="31" name="Shape 23"/>
          <p:cNvSpPr/>
          <p:nvPr/>
        </p:nvSpPr>
        <p:spPr>
          <a:xfrm>
            <a:off x="8046720" y="3977640"/>
            <a:ext cx="3520440" cy="20574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275320" y="4251960"/>
            <a:ext cx="822960" cy="822960"/>
          </a:xfrm>
          <a:prstGeom prst="ellipse">
            <a:avLst/>
          </a:prstGeom>
          <a:solidFill>
            <a:srgbClr val="17306B"/>
          </a:solidFill>
          <a:ln w="12700">
            <a:solidFill>
              <a:srgbClr val="17306B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1060" y="4457700"/>
            <a:ext cx="411480" cy="41148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235440" y="4206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no app do banco</a:t>
            </a:r>
            <a:endParaRPr lang="en-US" sz="2000" dirty="0"/>
          </a:p>
        </p:txBody>
      </p:sp>
      <p:sp>
        <p:nvSpPr>
          <p:cNvPr id="35" name="Text 26"/>
          <p:cNvSpPr txBox="1"/>
          <p:nvPr/>
        </p:nvSpPr>
        <p:spPr>
          <a:xfrm>
            <a:off x="8275320" y="5166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do Pix, confira o nome e o valor.</a:t>
            </a:r>
            <a:endParaRPr lang="en-US" sz="1800" dirty="0"/>
          </a:p>
        </p:txBody>
      </p:sp>
      <p:sp>
        <p:nvSpPr>
          <p:cNvPr id="36" name="Text 2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Idoso Seguro no Mundo Digital  •  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737360"/>
            <a:ext cx="2926080" cy="2926080"/>
          </a:xfrm>
          <a:prstGeom prst="ellipse">
            <a:avLst/>
          </a:prstGeom>
          <a:solidFill>
            <a:srgbClr val="B01E1E"/>
          </a:solidFill>
          <a:ln w="12700">
            <a:solidFill>
              <a:srgbClr val="B01E1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4688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97680" y="1463040"/>
            <a:ext cx="7223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passe o código de verificação para outra pessoa.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4297680" y="374904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E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que digam ser do banco, da polícia, um familiar ou o suporte técnico.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297680" y="49377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pede o código quer entrar na sua conta.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628650"/>
            <a:ext cx="434340" cy="4343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45920" y="3657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Caí em um golpe. E agora?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1645920" y="9601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entre em pânico. O mais importante é agir rápido.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40680" cy="1325880"/>
          </a:xfrm>
          <a:prstGeom prst="roundRect">
            <a:avLst>
              <a:gd name="adj" fmla="val 1034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965960"/>
            <a:ext cx="777240" cy="77724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1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 o contato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286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responda, não clique e não envie mais nada.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5440680" cy="1325880"/>
          </a:xfrm>
          <a:prstGeom prst="roundRect">
            <a:avLst>
              <a:gd name="adj" fmla="val 1034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55080" y="1965960"/>
            <a:ext cx="777240" cy="777240"/>
          </a:xfrm>
          <a:prstGeom prst="ellipse">
            <a:avLst/>
          </a:prstGeom>
          <a:solidFill>
            <a:srgbClr val="1E5FB4"/>
          </a:solidFill>
          <a:ln w="12700">
            <a:solidFill>
              <a:srgbClr val="1E5FB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5508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10" dirty="0"/>
          </a:p>
        </p:txBody>
      </p:sp>
      <p:sp>
        <p:nvSpPr>
          <p:cNvPr id="14" name="Text 11"/>
          <p:cNvSpPr txBox="1"/>
          <p:nvPr/>
        </p:nvSpPr>
        <p:spPr>
          <a:xfrm>
            <a:off x="736092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Fale com o banco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7360920" y="2286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app ou telefone do cartão. Se foi Pix, peça o MED.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40680" cy="1325880"/>
          </a:xfrm>
          <a:prstGeom prst="roundRect">
            <a:avLst>
              <a:gd name="adj" fmla="val 1034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3474720"/>
            <a:ext cx="777240" cy="777240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474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10" dirty="0"/>
          </a:p>
        </p:txBody>
      </p:sp>
      <p:sp>
        <p:nvSpPr>
          <p:cNvPr id="19" name="Text 16"/>
          <p:cNvSpPr txBox="1"/>
          <p:nvPr/>
        </p:nvSpPr>
        <p:spPr>
          <a:xfrm>
            <a:off x="1737360" y="3337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Troque as senhas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1737360" y="3794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Banco, e-mail, WhatsApp e outras contas.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172200" y="3200400"/>
            <a:ext cx="5440680" cy="1325880"/>
          </a:xfrm>
          <a:prstGeom prst="roundRect">
            <a:avLst>
              <a:gd name="adj" fmla="val 1034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55080" y="3474720"/>
            <a:ext cx="777240" cy="777240"/>
          </a:xfrm>
          <a:prstGeom prst="ellipse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55080" y="3474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10" dirty="0"/>
          </a:p>
        </p:txBody>
      </p:sp>
      <p:sp>
        <p:nvSpPr>
          <p:cNvPr id="24" name="Text 21"/>
          <p:cNvSpPr txBox="1"/>
          <p:nvPr/>
        </p:nvSpPr>
        <p:spPr>
          <a:xfrm>
            <a:off x="7360920" y="3337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 roubado?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7360920" y="3794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 Celular Seguro (Governo Federal) para bloquear.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548640" y="4709160"/>
            <a:ext cx="5440680" cy="1325880"/>
          </a:xfrm>
          <a:prstGeom prst="roundRect">
            <a:avLst>
              <a:gd name="adj" fmla="val 1034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1520" y="4983480"/>
            <a:ext cx="777240" cy="777240"/>
          </a:xfrm>
          <a:prstGeom prst="ellipse">
            <a:avLst/>
          </a:prstGeom>
          <a:solidFill>
            <a:srgbClr val="E8731A"/>
          </a:solidFill>
          <a:ln w="12700">
            <a:solidFill>
              <a:srgbClr val="E8731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4983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10" dirty="0"/>
          </a:p>
        </p:txBody>
      </p:sp>
      <p:sp>
        <p:nvSpPr>
          <p:cNvPr id="29" name="Text 26"/>
          <p:cNvSpPr txBox="1"/>
          <p:nvPr/>
        </p:nvSpPr>
        <p:spPr>
          <a:xfrm>
            <a:off x="1737360" y="4846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Faça o boletim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1737360" y="5303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Guarde prints, números, data, hora e comprovantes.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6172200" y="4709160"/>
            <a:ext cx="5440680" cy="1325880"/>
          </a:xfrm>
          <a:prstGeom prst="roundRect">
            <a:avLst>
              <a:gd name="adj" fmla="val 1034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55080" y="4983480"/>
            <a:ext cx="777240" cy="7772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55080" y="4983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10" dirty="0"/>
          </a:p>
        </p:txBody>
      </p:sp>
      <p:sp>
        <p:nvSpPr>
          <p:cNvPr id="34" name="Text 31"/>
          <p:cNvSpPr txBox="1"/>
          <p:nvPr/>
        </p:nvSpPr>
        <p:spPr>
          <a:xfrm>
            <a:off x="7360920" y="4846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 ajuda</a:t>
            </a:r>
            <a:endParaRPr lang="en-US" sz="2200" dirty="0"/>
          </a:p>
        </p:txBody>
      </p:sp>
      <p:sp>
        <p:nvSpPr>
          <p:cNvPr id="35" name="Text 32"/>
          <p:cNvSpPr txBox="1"/>
          <p:nvPr/>
        </p:nvSpPr>
        <p:spPr>
          <a:xfrm>
            <a:off x="7360920" y="5303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 para alguém de confiança. Não tenha vergonha!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Idoso Seguro no Mundo Digital  •  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6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caso de dúvida: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C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FAÇA NADA ATÉ CONFIRMAR!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514600" y="2834640"/>
            <a:ext cx="1463040" cy="146304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32004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4389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0" y="2834640"/>
            <a:ext cx="1463040" cy="14630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200400"/>
            <a:ext cx="731520" cy="731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00600" y="4389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PENSE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8458200" y="2834640"/>
            <a:ext cx="1463040" cy="1463040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3200400"/>
            <a:ext cx="731520" cy="7315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772400" y="4389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consegue! Tecnologia também é para você.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Idoso Seguro no Mundo Digital</dc:title>
  <dc:subject>PptxGenJS Presentation</dc:subject>
  <dc:creator>PptxGenJS</dc:creator>
  <cp:lastModifiedBy>PptxGenJS</cp:lastModifiedBy>
  <cp:revision>1</cp:revision>
  <dcterms:created xsi:type="dcterms:W3CDTF">2026-09-26T16:30:10Z</dcterms:created>
  <dcterms:modified xsi:type="dcterms:W3CDTF">2026-09-26T16:30:10Z</dcterms:modified>
</cp:coreProperties>
</file>